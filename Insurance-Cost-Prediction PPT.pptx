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ibre Baskerville"/>
      <p:regular r:id="rId17"/>
    </p:embeddedFont>
    <p:embeddedFont>
      <p:font typeface="Libre Baskerville Bold"/>
      <p:regular r:id="rId18"/>
    </p:embeddedFont>
    <p:embeddedFont>
      <p:font typeface="DM Sans"/>
      <p:regular r:id="rId19"/>
    </p:embeddedFont>
    <p:embeddedFont>
      <p:font typeface="DM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03735"/>
            <a:ext cx="51557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Insurance Cost Prediction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Machine Learning project that predicts medical insurance charges using customer demographic and health-related data — helping insurers estimate costs more efficiently.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8374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Aim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139330"/>
            <a:ext cx="4722763" cy="1520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goal is to build a Machine Learning model that can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accurately predict medical insurance charges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using customer demographic and health-related information.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leveraging features such as age, BMI, smoking habits, number of children, gender, and region, the model aims to help insurance companies estimate customer insurance costs more efficiently.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88590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Features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22896"/>
            <a:ext cx="86943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uses seven key features — six input variables and one target variable — to predict insurance charges.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49610" y="1349797"/>
            <a:ext cx="2670646" cy="968871"/>
          </a:xfrm>
          <a:prstGeom prst="roundRect">
            <a:avLst>
              <a:gd name="adj" fmla="val 55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2811" y="1482998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B88E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8777" y="1588963"/>
            <a:ext cx="173385" cy="173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2811" y="198477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36640" y="1349797"/>
            <a:ext cx="2670646" cy="968871"/>
          </a:xfrm>
          <a:prstGeom prst="roundRect">
            <a:avLst>
              <a:gd name="adj" fmla="val 55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9841" y="1482998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B88E2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5806" y="1588963"/>
            <a:ext cx="173385" cy="1733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69841" y="198477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Gender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23670" y="1349797"/>
            <a:ext cx="2670646" cy="968871"/>
          </a:xfrm>
          <a:prstGeom prst="roundRect">
            <a:avLst>
              <a:gd name="adj" fmla="val 55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56871" y="1482998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B88E2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2836" y="1588963"/>
            <a:ext cx="173385" cy="17338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56871" y="198477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BMI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49610" y="2435051"/>
            <a:ext cx="2670646" cy="968871"/>
          </a:xfrm>
          <a:prstGeom prst="roundRect">
            <a:avLst>
              <a:gd name="adj" fmla="val 55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82811" y="2568253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B88E2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777" y="2674218"/>
            <a:ext cx="173385" cy="1733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2811" y="307002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Children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3236640" y="2435051"/>
            <a:ext cx="2670646" cy="968871"/>
          </a:xfrm>
          <a:prstGeom prst="roundRect">
            <a:avLst>
              <a:gd name="adj" fmla="val 55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369841" y="2568253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B88E2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75806" y="2674218"/>
            <a:ext cx="173385" cy="17338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369841" y="307002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Smoker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023670" y="2435051"/>
            <a:ext cx="2670646" cy="968871"/>
          </a:xfrm>
          <a:prstGeom prst="roundRect">
            <a:avLst>
              <a:gd name="adj" fmla="val 55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56871" y="2568253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B88E2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62836" y="2674218"/>
            <a:ext cx="173385" cy="17338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56871" y="307002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Region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449610" y="3520306"/>
            <a:ext cx="8244706" cy="1234604"/>
          </a:xfrm>
          <a:prstGeom prst="roundRect">
            <a:avLst>
              <a:gd name="adj" fmla="val 437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82811" y="3653507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B88E2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8777" y="3759473"/>
            <a:ext cx="173385" cy="17338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82811" y="415528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Insurance Charges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582811" y="4425776"/>
            <a:ext cx="79783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Variable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8459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072902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project follows an eight-step pipeline from raw data to model comparison, ensuring a systematic approach to building and evaluating the prediction model.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65162" y="1624980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5162" y="1836539"/>
            <a:ext cx="404455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4"/>
          <p:cNvSpPr/>
          <p:nvPr/>
        </p:nvSpPr>
        <p:spPr>
          <a:xfrm>
            <a:off x="465162" y="1931566"/>
            <a:ext cx="226002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Collection &amp; Loading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34285" y="1624980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34285" y="1836539"/>
            <a:ext cx="404455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4634285" y="1931566"/>
            <a:ext cx="305931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Cleaning &amp; Duplicate Removal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5162" y="2363465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5162" y="2575024"/>
            <a:ext cx="404455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2" name="Text 10"/>
          <p:cNvSpPr/>
          <p:nvPr/>
        </p:nvSpPr>
        <p:spPr>
          <a:xfrm>
            <a:off x="465162" y="2670051"/>
            <a:ext cx="274721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 (EDA)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4285" y="2363465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4285" y="2575024"/>
            <a:ext cx="404455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5" name="Text 13"/>
          <p:cNvSpPr/>
          <p:nvPr/>
        </p:nvSpPr>
        <p:spPr>
          <a:xfrm>
            <a:off x="4634285" y="2670051"/>
            <a:ext cx="241399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Encoding (One-Hot)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5162" y="3101950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5162" y="3313509"/>
            <a:ext cx="404455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6"/>
          <p:cNvSpPr/>
          <p:nvPr/>
        </p:nvSpPr>
        <p:spPr>
          <a:xfrm>
            <a:off x="465162" y="340853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34285" y="3101950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34285" y="3313509"/>
            <a:ext cx="404455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4634285" y="340853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5162" y="3840435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5162" y="4051995"/>
            <a:ext cx="404455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4" name="Text 22"/>
          <p:cNvSpPr/>
          <p:nvPr/>
        </p:nvSpPr>
        <p:spPr>
          <a:xfrm>
            <a:off x="465162" y="414702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5162" y="4429423"/>
            <a:ext cx="40445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MAE, MSE, RMSE, and </a:t>
            </a:r>
            <a:pPr algn="l" indent="0" marL="0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R^2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34285" y="3840435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34285" y="4051995"/>
            <a:ext cx="4044553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8" name="Text 26"/>
          <p:cNvSpPr/>
          <p:nvPr/>
        </p:nvSpPr>
        <p:spPr>
          <a:xfrm>
            <a:off x="4634285" y="4147021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7457"/>
            <a:ext cx="6212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Machine Learning Models Used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9396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regression algorithms were trained and compared to determine which best predicts insurance charges.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80245"/>
            <a:ext cx="1507480" cy="931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1890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495601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Establishes a baseline by modeling a linear relationship between features and insurance charges.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080245"/>
            <a:ext cx="1507480" cy="931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189089"/>
            <a:ext cx="21941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Decision Tree Regressor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495601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Splits data based on feature values to capture non-linear patterns in insurance cost prediction.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080245"/>
            <a:ext cx="1507480" cy="931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189089"/>
            <a:ext cx="23363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Random Forest Regressor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495601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multiple decision trees to improve prediction accuracy and reduce overfitting.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4473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Performance Comparison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971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Metric: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88E2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R² Score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 Score measures how well the model explains variance in insurance charges — the closer to 1.0, the better the fit.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21508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 Regression: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0.8069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 Tree Regressor: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0.8189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 Regressor: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0.8797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⭐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332861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models were also evaluated using MAE, MSE, and RMSE to assess prediction error.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0473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Best Model: Random Forest Regressor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574155"/>
            <a:ext cx="2272754" cy="31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0.8797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46447" y="20631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R² Score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369641"/>
            <a:ext cx="22727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among all three models tested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46053" y="1574155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3196456" y="22191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Models Compared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46053" y="2525613"/>
            <a:ext cx="2272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Linear, Decision Tree, Random Forest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21048" y="3333601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</a:t>
            </a:r>
            <a:endParaRPr lang="en-US" sz="3650" dirty="0"/>
          </a:p>
        </p:txBody>
      </p:sp>
      <p:sp>
        <p:nvSpPr>
          <p:cNvPr id="12" name="Text 9"/>
          <p:cNvSpPr/>
          <p:nvPr/>
        </p:nvSpPr>
        <p:spPr>
          <a:xfrm>
            <a:off x="1971452" y="39785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 Used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721048" y="4285059"/>
            <a:ext cx="2272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BMI, smoker, children, gender, region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815033"/>
            <a:ext cx="5177582" cy="216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project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successfully predicted medical insurance charges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using Machine Learning techniques. Among all models,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 Regressor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performed best with the highest R² Score of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0.8797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indicating strong prediction accuracy.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project demonstrates how Machine Learning can help insurance companies estimate customer insurance costs more efficiently. By applying a structured workflow — from data cleaning and EDA to feature encoding, model training, and evaluation — the project showcases a complete end-to-end ML pipeline for insurance cost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5861"/>
            <a:ext cx="446469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Improvements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82366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782366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943174"/>
            <a:ext cx="24890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Larger Real-World Datasets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24968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 data volume and diversity for more robust, generalizable predictions.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782366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3792" y="1782366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4860801" y="1943174"/>
            <a:ext cx="28101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Advanced Boosting Algorithms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60801" y="2249686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XGBoost and similar techniques to further improve model accuracy.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005882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069" y="3005882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714077" y="3166690"/>
            <a:ext cx="17753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Deployment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4077" y="3473202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the model using Flask or Streamlit for real-time predictions.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05882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3792" y="3005882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60801" y="3166690"/>
            <a:ext cx="25777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Web Application Integration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60801" y="3473202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Integrate the trained model into web applications for broader accessibility.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7ED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726" y="378693"/>
            <a:ext cx="3289474" cy="4386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8379" y="423714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88379" y="1065833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2668" y="121012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Clear Objective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2668" y="1510531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 insurance charges using demographic and health features.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8379" y="2013645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2668" y="2157933"/>
            <a:ext cx="200345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Structured Pipeline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2668" y="2458343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8-step workflow from data loading to model comparison.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8379" y="2961456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668" y="3105745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Best Model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2668" y="3406155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 achieved R² = 0.8797 — the strongest performer.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8379" y="3909268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668" y="4053557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What's Next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2668" y="4353967"/>
            <a:ext cx="44496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XGBoost, deployment, and real-world scaling on the roadmap.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2026-05-24T04:42:10Z</dcterms:created>
  <dcterms:modified xsi:type="dcterms:W3CDTF">2026-05-24T04:42:10Z</dcterms:modified>
</cp:coreProperties>
</file>